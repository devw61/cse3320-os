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Urbanist Medium"/>
      <p:regular r:id="rId25"/>
      <p:bold r:id="rId26"/>
      <p:italic r:id="rId27"/>
      <p:boldItalic r:id="rId28"/>
    </p:embeddedFont>
    <p:embeddedFont>
      <p:font typeface="Urbanist SemiBold"/>
      <p:regular r:id="rId29"/>
      <p:bold r:id="rId30"/>
      <p:italic r:id="rId31"/>
      <p:boldItalic r:id="rId32"/>
    </p:embeddedFont>
    <p:embeddedFont>
      <p:font typeface="Urbanist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Medium-bold.fntdata"/><Relationship Id="rId25" Type="http://schemas.openxmlformats.org/officeDocument/2006/relationships/font" Target="fonts/UrbanistMedium-regular.fntdata"/><Relationship Id="rId28" Type="http://schemas.openxmlformats.org/officeDocument/2006/relationships/font" Target="fonts/UrbanistMedium-boldItalic.fntdata"/><Relationship Id="rId27" Type="http://schemas.openxmlformats.org/officeDocument/2006/relationships/font" Target="fonts/Urbanist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UrbanistSemiBo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UrbanistSemiBold-italic.fntdata"/><Relationship Id="rId30" Type="http://schemas.openxmlformats.org/officeDocument/2006/relationships/font" Target="fonts/UrbanistSemiBold-bold.fntdata"/><Relationship Id="rId11" Type="http://schemas.openxmlformats.org/officeDocument/2006/relationships/slide" Target="slides/slide6.xml"/><Relationship Id="rId33" Type="http://schemas.openxmlformats.org/officeDocument/2006/relationships/font" Target="fonts/Urbanist-regular.fntdata"/><Relationship Id="rId10" Type="http://schemas.openxmlformats.org/officeDocument/2006/relationships/slide" Target="slides/slide5.xml"/><Relationship Id="rId32" Type="http://schemas.openxmlformats.org/officeDocument/2006/relationships/font" Target="fonts/UrbanistSemiBold-boldItalic.fntdata"/><Relationship Id="rId13" Type="http://schemas.openxmlformats.org/officeDocument/2006/relationships/slide" Target="slides/slide8.xml"/><Relationship Id="rId35" Type="http://schemas.openxmlformats.org/officeDocument/2006/relationships/font" Target="fonts/Urbanist-italic.fntdata"/><Relationship Id="rId12" Type="http://schemas.openxmlformats.org/officeDocument/2006/relationships/slide" Target="slides/slide7.xml"/><Relationship Id="rId34" Type="http://schemas.openxmlformats.org/officeDocument/2006/relationships/font" Target="fonts/Urbanist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Urbanist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ab7dc072bd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ab7dc072bd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ab7dc072bd_0_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ab7dc072bd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ab7dc072bd_0_6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ab7dc072bd_0_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ab7dc072bd_0_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ab7dc072bd_0_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ab7dc072bd_0_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ab7dc072bd_0_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ab7dc072bd_0_10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ab7dc072bd_0_1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ab7dc072bd_0_10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ab7dc072bd_0_10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ab7dc072bd_0_10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ab7dc072bd_0_10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ab7dc072bd_0_10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ab7dc072bd_0_10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ab7dc072bd_0_1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ab7dc072bd_0_1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ab7dc072bd_0_1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ab7dc072bd_0_1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ab7dc072bd_0_1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3ab7dc072bd_0_1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ab7dc072bd_0_1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3ab7dc072bd_0_1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ab7dc072bd_0_1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ab7dc072bd_0_1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ab7dc072bd_0_1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3ab7dc072bd_0_1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ab7dc072bd_0_1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3ab7dc072bd_0_1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ab7dc072bd_0_1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3ab7dc072bd_0_1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ab7dc072bd_0_1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ab7dc072bd_0_1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ab7dc072bd_0_10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3ab7dc072bd_0_10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50000"/>
          </a:blip>
          <a:srcRect b="8145" l="3133" r="7834" t="16785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" name="Google Shape;16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" name="Google Shape;18;p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" name="Google Shape;20;p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" name="Google Shape;30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2" name="Google Shape;32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" name="Google Shape;39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6" name="Google Shape;56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" name="Google Shape;64;p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8" name="Google Shape;68;p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1" name="Google Shape;71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" name="Google Shape;73;p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4" name="Google Shape;74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8" name="Google Shape;78;p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81" name="Google Shape;81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7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7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8" name="Google Shape;98;p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9" name="Google Shape;99;p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2" name="Google Shape;102;p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" name="Google Shape;103;p8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4" name="Google Shape;104;p8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5" name="Google Shape;105;p8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6" name="Google Shape;106;p8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7" name="Google Shape;107;p8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8" name="Google Shape;108;p8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9" name="Google Shape;109;p8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0" name="Google Shape;110;p8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1" name="Google Shape;111;p8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2" name="Google Shape;112;p8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3" name="Google Shape;113;p8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4" name="Google Shape;114;p8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5" name="Google Shape;115;p8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6" name="Google Shape;116;p8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7" name="Google Shape;117;p8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8" name="Google Shape;118;p8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19" name="Google Shape;119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25" name="Google Shape;125;p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7" name="Google Shape;127;p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29" name="Google Shape;129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36" name="Google Shape;136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8" name="Google Shape;138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9" name="Google Shape;139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1" name="Google Shape;141;p10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2" name="Google Shape;142;p10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" name="Google Shape;143;p10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4" name="Google Shape;144;p10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5" name="Google Shape;145;p10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6" name="Google Shape;146;p10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7" name="Google Shape;147;p10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8" name="Google Shape;148;p10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9" name="Google Shape;149;p10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0" name="Google Shape;150;p10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" name="Google Shape;151;p10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2" name="Google Shape;152;p10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3" name="Google Shape;153;p10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4" name="Google Shape;154;p10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5" name="Google Shape;155;p10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57" name="Google Shape;157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161" name="Google Shape;161;p11"/>
          <p:cNvPicPr preferRelativeResize="0"/>
          <p:nvPr/>
        </p:nvPicPr>
        <p:blipFill rotWithShape="1">
          <a:blip r:embed="rId2">
            <a:alphaModFix/>
          </a:blip>
          <a:srcRect b="42245" l="17240" r="25038" t="34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2" name="Google Shape;162;p1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67" name="Google Shape;167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74" name="Google Shape;174;p1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75" name="Google Shape;175;p1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180" name="Google Shape;180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5" name="Google Shape;185;p13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6" name="Google Shape;186;p1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7" name="Google Shape;187;p13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8" name="Google Shape;188;p13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13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0" name="Google Shape;190;p1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1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1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13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4" name="Google Shape;194;p13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5" name="Google Shape;195;p13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96" name="Google Shape;196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7" name="Google Shape;197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8" name="Google Shape;198;p1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0" name="Google Shape;200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04" name="Google Shape;204;p1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6" name="Google Shape;206;p1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07" name="Google Shape;207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14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9" name="Google Shape;209;p14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0" name="Google Shape;210;p14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1" name="Google Shape;211;p14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2" name="Google Shape;212;p14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3" name="Google Shape;213;p14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4" name="Google Shape;214;p14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5" name="Google Shape;215;p14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6" name="Google Shape;216;p14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7" name="Google Shape;217;p14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8" name="Google Shape;218;p14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9" name="Google Shape;219;p14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0" name="Google Shape;220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5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1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2" name="Google Shape;242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6" name="Google Shape;246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8" name="Google Shape;248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9" name="Google Shape;249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0" name="Google Shape;250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1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52" name="Google Shape;252;p16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6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4" name="Google Shape;254;p16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5" name="Google Shape;255;p16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6" name="Google Shape;256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0" name="Google Shape;260;p1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1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62" name="Google Shape;262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7" name="Google Shape;267;p17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7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9" name="Google Shape;269;p17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0" name="Google Shape;270;p17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1" name="Google Shape;271;p17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272" name="Google Shape;272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17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5" name="Google Shape;275;p17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76" name="Google Shape;276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9" name="Google Shape;279;p17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0" name="Google Shape;280;p17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1" name="Google Shape;281;p17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17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3" name="Google Shape;283;p17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4" name="Google Shape;284;p17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17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6" name="Google Shape;286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0" name="Google Shape;290;p18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1" name="Google Shape;291;p18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92" name="Google Shape;292;p18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3" name="Google Shape;293;p18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4" name="Google Shape;294;p18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5" name="Google Shape;295;p1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6" name="Google Shape;296;p1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7" name="Google Shape;297;p1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8" name="Google Shape;298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1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18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1" name="Google Shape;301;p18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2" name="Google Shape;302;p18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3" name="Google Shape;303;p18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4" name="Google Shape;304;p18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18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6" name="Google Shape;306;p18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7" name="Google Shape;307;p18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8" name="Google Shape;308;p18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09" name="Google Shape;309;p18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0" name="Google Shape;310;p18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1" name="Google Shape;311;p18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2" name="Google Shape;312;p18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3" name="Google Shape;313;p18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14" name="Google Shape;314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8" name="Google Shape;318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9" name="Google Shape;319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20" name="Google Shape;320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1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1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5" name="Google Shape;325;p1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1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19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28" name="Google Shape;328;p19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9" name="Google Shape;329;p19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19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1" name="Google Shape;331;p1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2" name="Google Shape;332;p1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5" name="Google Shape;33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0" name="Google Shape;34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3" name="Google Shape;343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4" name="Google Shape;344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9" name="Google Shape;349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4" name="Google Shape;354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5" name="Google Shape;355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0" name="Google Shape;360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2" name="Google Shape;372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3" name="Google Shape;373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6" name="Google Shape;376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7" name="Google Shape;377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2" name="Google Shape;382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4" name="Google Shape;384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0" name="Google Shape;390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5" name="Google Shape;395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3" name="Google Shape;403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6" name="Google Shape;40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7" name="Google Shape;407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8" name="Google Shape;408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1" name="Google Shape;411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6" name="Google Shape;41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8" name="Google Shape;418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0" name="Google Shape;430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nesdev.org/wiki/INES" TargetMode="External"/><Relationship Id="rId4" Type="http://schemas.openxmlformats.org/officeDocument/2006/relationships/hyperlink" Target="https://www.nesdev.org/wiki/INE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1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438" name="Google Shape;438;p41"/>
          <p:cNvGrpSpPr/>
          <p:nvPr/>
        </p:nvGrpSpPr>
        <p:grpSpPr>
          <a:xfrm>
            <a:off x="228591" y="3127350"/>
            <a:ext cx="233094" cy="233094"/>
            <a:chOff x="259788" y="1923155"/>
            <a:chExt cx="409800" cy="409800"/>
          </a:xfrm>
        </p:grpSpPr>
        <p:sp>
          <p:nvSpPr>
            <p:cNvPr id="439" name="Google Shape;439;p41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40" name="Google Shape;440;p41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41" name="Google Shape;441;p41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2" name="Google Shape;442;p41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443" name="Google Shape;443;p41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NES Disassembler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44" name="Google Shape;444;p4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45" name="Google Shape;445;p4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446" name="Google Shape;446;p4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447" name="Google Shape;447;p41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Devin Wingfield</a:t>
            </a:r>
            <a:endParaRPr/>
          </a:p>
        </p:txBody>
      </p:sp>
      <p:sp>
        <p:nvSpPr>
          <p:cNvPr id="448" name="Google Shape;448;p41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2"/>
          <p:cNvSpPr/>
          <p:nvPr/>
        </p:nvSpPr>
        <p:spPr>
          <a:xfrm>
            <a:off x="4618950" y="228600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4" name="Google Shape;454;p42"/>
          <p:cNvSpPr/>
          <p:nvPr/>
        </p:nvSpPr>
        <p:spPr>
          <a:xfrm>
            <a:off x="4618950" y="9063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5" name="Google Shape;455;p42"/>
          <p:cNvSpPr/>
          <p:nvPr/>
        </p:nvSpPr>
        <p:spPr>
          <a:xfrm>
            <a:off x="4618950" y="15841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6" name="Google Shape;456;p42"/>
          <p:cNvSpPr/>
          <p:nvPr/>
        </p:nvSpPr>
        <p:spPr>
          <a:xfrm>
            <a:off x="4618950" y="2261950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457" name="Google Shape;457;p42"/>
          <p:cNvGrpSpPr/>
          <p:nvPr/>
        </p:nvGrpSpPr>
        <p:grpSpPr>
          <a:xfrm rot="-5400000">
            <a:off x="8556505" y="430775"/>
            <a:ext cx="204654" cy="204654"/>
            <a:chOff x="259788" y="1923155"/>
            <a:chExt cx="409800" cy="409800"/>
          </a:xfrm>
        </p:grpSpPr>
        <p:sp>
          <p:nvSpPr>
            <p:cNvPr id="458" name="Google Shape;458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59" name="Google Shape;459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60" name="Google Shape;460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" name="Google Shape;461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62" name="Google Shape;462;p42"/>
          <p:cNvGrpSpPr/>
          <p:nvPr/>
        </p:nvGrpSpPr>
        <p:grpSpPr>
          <a:xfrm rot="-5400000">
            <a:off x="8556505" y="1108560"/>
            <a:ext cx="204654" cy="204654"/>
            <a:chOff x="259788" y="1923155"/>
            <a:chExt cx="409800" cy="409800"/>
          </a:xfrm>
        </p:grpSpPr>
        <p:sp>
          <p:nvSpPr>
            <p:cNvPr id="463" name="Google Shape;463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64" name="Google Shape;464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65" name="Google Shape;465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6" name="Google Shape;466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67" name="Google Shape;467;p42"/>
          <p:cNvGrpSpPr/>
          <p:nvPr/>
        </p:nvGrpSpPr>
        <p:grpSpPr>
          <a:xfrm rot="-5400000">
            <a:off x="8556505" y="1786345"/>
            <a:ext cx="204654" cy="204654"/>
            <a:chOff x="259788" y="1923155"/>
            <a:chExt cx="409800" cy="409800"/>
          </a:xfrm>
        </p:grpSpPr>
        <p:sp>
          <p:nvSpPr>
            <p:cNvPr id="468" name="Google Shape;468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69" name="Google Shape;469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70" name="Google Shape;470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1" name="Google Shape;471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72" name="Google Shape;472;p42"/>
          <p:cNvGrpSpPr/>
          <p:nvPr/>
        </p:nvGrpSpPr>
        <p:grpSpPr>
          <a:xfrm rot="-5400000">
            <a:off x="8556505" y="2464130"/>
            <a:ext cx="204654" cy="204654"/>
            <a:chOff x="259788" y="1923155"/>
            <a:chExt cx="409800" cy="409800"/>
          </a:xfrm>
        </p:grpSpPr>
        <p:sp>
          <p:nvSpPr>
            <p:cNvPr id="473" name="Google Shape;473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74" name="Google Shape;474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75" name="Google Shape;475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" name="Google Shape;476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477" name="Google Shape;477;p42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</a:t>
            </a:r>
            <a:r>
              <a:rPr lang="en"/>
              <a:t> Name</a:t>
            </a:r>
            <a:endParaRPr/>
          </a:p>
        </p:txBody>
      </p:sp>
      <p:sp>
        <p:nvSpPr>
          <p:cNvPr id="478" name="Google Shape;478;p42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r>
              <a:rPr lang="en"/>
              <a:t> </a:t>
            </a:r>
            <a:endParaRPr/>
          </a:p>
        </p:txBody>
      </p:sp>
      <p:sp>
        <p:nvSpPr>
          <p:cNvPr id="479" name="Google Shape;479;p42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480" name="Google Shape;480;p42"/>
          <p:cNvSpPr txBox="1"/>
          <p:nvPr>
            <p:ph type="title"/>
          </p:nvPr>
        </p:nvSpPr>
        <p:spPr>
          <a:xfrm>
            <a:off x="277500" y="22860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</a:t>
            </a:r>
            <a:endParaRPr/>
          </a:p>
        </p:txBody>
      </p:sp>
      <p:sp>
        <p:nvSpPr>
          <p:cNvPr id="481" name="Google Shape;481;p42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82" name="Google Shape;482;p42"/>
          <p:cNvSpPr txBox="1"/>
          <p:nvPr>
            <p:ph idx="5" type="subTitle"/>
          </p:nvPr>
        </p:nvSpPr>
        <p:spPr>
          <a:xfrm>
            <a:off x="4744575" y="1064088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83" name="Google Shape;483;p42"/>
          <p:cNvSpPr txBox="1"/>
          <p:nvPr>
            <p:ph idx="6" type="subTitle"/>
          </p:nvPr>
        </p:nvSpPr>
        <p:spPr>
          <a:xfrm>
            <a:off x="4744575" y="1741025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84" name="Google Shape;484;p42"/>
          <p:cNvSpPr txBox="1"/>
          <p:nvPr>
            <p:ph idx="7" type="subTitle"/>
          </p:nvPr>
        </p:nvSpPr>
        <p:spPr>
          <a:xfrm>
            <a:off x="4744575" y="2422306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485" name="Google Shape;485;p42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Parser</a:t>
            </a:r>
            <a:endParaRPr/>
          </a:p>
        </p:txBody>
      </p:sp>
      <p:sp>
        <p:nvSpPr>
          <p:cNvPr id="486" name="Google Shape;486;p42"/>
          <p:cNvSpPr txBox="1"/>
          <p:nvPr>
            <p:ph idx="14" type="subTitle"/>
          </p:nvPr>
        </p:nvSpPr>
        <p:spPr>
          <a:xfrm>
            <a:off x="5067075" y="1064088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Mapper</a:t>
            </a:r>
            <a:endParaRPr/>
          </a:p>
        </p:txBody>
      </p:sp>
      <p:sp>
        <p:nvSpPr>
          <p:cNvPr id="487" name="Google Shape;487;p42"/>
          <p:cNvSpPr txBox="1"/>
          <p:nvPr>
            <p:ph idx="15" type="subTitle"/>
          </p:nvPr>
        </p:nvSpPr>
        <p:spPr>
          <a:xfrm>
            <a:off x="5067075" y="1741025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Output Creation</a:t>
            </a:r>
            <a:endParaRPr/>
          </a:p>
        </p:txBody>
      </p:sp>
      <p:sp>
        <p:nvSpPr>
          <p:cNvPr id="488" name="Google Shape;488;p42"/>
          <p:cNvSpPr txBox="1"/>
          <p:nvPr>
            <p:ph idx="16" type="subTitle"/>
          </p:nvPr>
        </p:nvSpPr>
        <p:spPr>
          <a:xfrm>
            <a:off x="5067075" y="2422306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Advanced Features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3"/>
          <p:cNvSpPr txBox="1"/>
          <p:nvPr>
            <p:ph type="title"/>
          </p:nvPr>
        </p:nvSpPr>
        <p:spPr>
          <a:xfrm>
            <a:off x="228600" y="290448"/>
            <a:ext cx="3655800" cy="81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Parser</a:t>
            </a:r>
            <a:endParaRPr/>
          </a:p>
        </p:txBody>
      </p:sp>
      <p:sp>
        <p:nvSpPr>
          <p:cNvPr id="494" name="Google Shape;494;p43"/>
          <p:cNvSpPr txBox="1"/>
          <p:nvPr>
            <p:ph idx="1" type="subTitle"/>
          </p:nvPr>
        </p:nvSpPr>
        <p:spPr>
          <a:xfrm>
            <a:off x="4525075" y="3157950"/>
            <a:ext cx="3926400" cy="118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</a:rPr>
              <a:t>The Parser includes parsing the header, PRG ROM, and CHR ROM then storing them for later use.</a:t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495" name="Google Shape;495;p43"/>
          <p:cNvGrpSpPr/>
          <p:nvPr/>
        </p:nvGrpSpPr>
        <p:grpSpPr>
          <a:xfrm rot="5400000">
            <a:off x="4525063" y="3129591"/>
            <a:ext cx="228589" cy="228622"/>
            <a:chOff x="1688332" y="4135245"/>
            <a:chExt cx="338700" cy="338700"/>
          </a:xfrm>
        </p:grpSpPr>
        <p:sp>
          <p:nvSpPr>
            <p:cNvPr id="496" name="Google Shape;496;p43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97" name="Google Shape;497;p43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498" name="Google Shape;498;p4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9" name="Google Shape;499;p4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4"/>
          <p:cNvSpPr txBox="1"/>
          <p:nvPr/>
        </p:nvSpPr>
        <p:spPr>
          <a:xfrm>
            <a:off x="362525" y="1471400"/>
            <a:ext cx="4354200" cy="30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Challenges</a:t>
            </a:r>
            <a:endParaRPr b="1"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AutoNum type="arabicPeriod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 order to parse a file, you must know the format of it. Did not know where to find this format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AutoNum type="arabicPeriod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Inexperience with parsing files + interacting with low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45720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level elements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AutoNum type="arabicPeriod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Creating new and unique techniques to find solutions to problems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5" name="Google Shape;505;p44"/>
          <p:cNvSpPr txBox="1"/>
          <p:nvPr>
            <p:ph type="title"/>
          </p:nvPr>
        </p:nvSpPr>
        <p:spPr>
          <a:xfrm>
            <a:off x="228600" y="228600"/>
            <a:ext cx="2834700" cy="9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Parser: Learning the File Format </a:t>
            </a:r>
            <a:endParaRPr/>
          </a:p>
        </p:txBody>
      </p:sp>
      <p:pic>
        <p:nvPicPr>
          <p:cNvPr descr="A rugged brown and white texture, like hundreds of tiny threads." id="506" name="Google Shape;506;p4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8490" r="18490" t="0"/>
          <a:stretch/>
        </p:blipFill>
        <p:spPr>
          <a:xfrm>
            <a:off x="4763925" y="111200"/>
            <a:ext cx="4196398" cy="4438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1" name="Google Shape;511;p45"/>
          <p:cNvCxnSpPr/>
          <p:nvPr/>
        </p:nvCxnSpPr>
        <p:spPr>
          <a:xfrm>
            <a:off x="4571988" y="1527700"/>
            <a:ext cx="0" cy="3198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45"/>
          <p:cNvCxnSpPr/>
          <p:nvPr/>
        </p:nvCxnSpPr>
        <p:spPr>
          <a:xfrm>
            <a:off x="238800" y="148505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13" name="Google Shape;513;p45"/>
          <p:cNvGrpSpPr/>
          <p:nvPr/>
        </p:nvGrpSpPr>
        <p:grpSpPr>
          <a:xfrm>
            <a:off x="4222606" y="1636275"/>
            <a:ext cx="204654" cy="204654"/>
            <a:chOff x="259788" y="1923155"/>
            <a:chExt cx="409800" cy="409800"/>
          </a:xfrm>
        </p:grpSpPr>
        <p:sp>
          <p:nvSpPr>
            <p:cNvPr id="514" name="Google Shape;514;p45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15" name="Google Shape;515;p45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16" name="Google Shape;516;p45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7" name="Google Shape;517;p45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18" name="Google Shape;518;p45"/>
          <p:cNvGrpSpPr/>
          <p:nvPr/>
        </p:nvGrpSpPr>
        <p:grpSpPr>
          <a:xfrm>
            <a:off x="8710756" y="1636275"/>
            <a:ext cx="204654" cy="204654"/>
            <a:chOff x="259788" y="1923155"/>
            <a:chExt cx="409800" cy="409800"/>
          </a:xfrm>
        </p:grpSpPr>
        <p:sp>
          <p:nvSpPr>
            <p:cNvPr id="519" name="Google Shape;519;p45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20" name="Google Shape;520;p45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21" name="Google Shape;521;p45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2" name="Google Shape;522;p45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523" name="Google Shape;523;p45"/>
          <p:cNvSpPr txBox="1"/>
          <p:nvPr>
            <p:ph type="title"/>
          </p:nvPr>
        </p:nvSpPr>
        <p:spPr>
          <a:xfrm>
            <a:off x="193075" y="180150"/>
            <a:ext cx="7223400" cy="55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Parser: Solutions</a:t>
            </a:r>
            <a:endParaRPr/>
          </a:p>
        </p:txBody>
      </p:sp>
      <p:sp>
        <p:nvSpPr>
          <p:cNvPr id="524" name="Google Shape;524;p45"/>
          <p:cNvSpPr txBox="1"/>
          <p:nvPr>
            <p:ph idx="5" type="subTitle"/>
          </p:nvPr>
        </p:nvSpPr>
        <p:spPr>
          <a:xfrm>
            <a:off x="288575" y="1636275"/>
            <a:ext cx="436500" cy="787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525" name="Google Shape;525;p45"/>
          <p:cNvSpPr txBox="1"/>
          <p:nvPr>
            <p:ph idx="6" type="subTitle"/>
          </p:nvPr>
        </p:nvSpPr>
        <p:spPr>
          <a:xfrm>
            <a:off x="4716750" y="1636275"/>
            <a:ext cx="504600" cy="730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526" name="Google Shape;526;p45"/>
          <p:cNvSpPr txBox="1"/>
          <p:nvPr/>
        </p:nvSpPr>
        <p:spPr>
          <a:xfrm>
            <a:off x="355400" y="2509200"/>
            <a:ext cx="3731700" cy="19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For simple file structure, most solutions could be found on the </a:t>
            </a:r>
            <a:r>
              <a:rPr lang="en" sz="1200" u="sng">
                <a:solidFill>
                  <a:schemeClr val="hlink"/>
                </a:solidFill>
                <a:latin typeface="Urbanist"/>
                <a:ea typeface="Urbanist"/>
                <a:cs typeface="Urbanist"/>
                <a:sym typeface="Urbanist"/>
                <a:hlinkClick r:id="rId3"/>
              </a:rPr>
              <a:t>i</a:t>
            </a:r>
            <a:r>
              <a:rPr lang="en" sz="1200" u="sng">
                <a:solidFill>
                  <a:srgbClr val="C9DAF8"/>
                </a:solidFill>
                <a:latin typeface="Urbanist"/>
                <a:ea typeface="Urbanist"/>
                <a:cs typeface="Urbanist"/>
                <a:sym typeface="Urbanis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nes wiki dev</a:t>
            </a:r>
            <a:r>
              <a:rPr lang="en" sz="1200">
                <a:solidFill>
                  <a:srgbClr val="C9DAF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1200">
              <a:solidFill>
                <a:srgbClr val="C9DAF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9DAF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rPr>
              <a:t>For complex parsing, structs and new code had to be made.</a:t>
            </a:r>
            <a:endParaRPr sz="1200">
              <a:solidFill>
                <a:schemeClr val="dk2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27" name="Google Shape;527;p45"/>
          <p:cNvSpPr txBox="1"/>
          <p:nvPr/>
        </p:nvSpPr>
        <p:spPr>
          <a:xfrm>
            <a:off x="725025" y="1812600"/>
            <a:ext cx="32484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Inexperience dealing with ines files</a:t>
            </a:r>
            <a:endParaRPr b="1"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28" name="Google Shape;528;p45"/>
          <p:cNvSpPr txBox="1"/>
          <p:nvPr/>
        </p:nvSpPr>
        <p:spPr>
          <a:xfrm>
            <a:off x="5362725" y="1812600"/>
            <a:ext cx="324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Inexperience parsing files + low level opcodes</a:t>
            </a:r>
            <a:endParaRPr b="1"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29" name="Google Shape;529;p45"/>
          <p:cNvSpPr txBox="1"/>
          <p:nvPr/>
        </p:nvSpPr>
        <p:spPr>
          <a:xfrm>
            <a:off x="4854250" y="2533288"/>
            <a:ext cx="3731700" cy="19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While a simple process, I needed to search how to correctly parse an iNES file. Taking a lot of time with experimenting and finding a good method</a:t>
            </a:r>
            <a:endParaRPr sz="1200">
              <a:solidFill>
                <a:srgbClr val="C9DAF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9DAF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rPr>
              <a:t>First time with interacting with opcodes, but learned they could be abstracted from me (for now)</a:t>
            </a:r>
            <a:r>
              <a:rPr lang="en"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200">
              <a:solidFill>
                <a:schemeClr val="dk2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6"/>
          <p:cNvSpPr txBox="1"/>
          <p:nvPr/>
        </p:nvSpPr>
        <p:spPr>
          <a:xfrm>
            <a:off x="4548275" y="457200"/>
            <a:ext cx="4367400" cy="19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Header Struct:</a:t>
            </a:r>
            <a:endParaRPr sz="1200" u="sng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u="sng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typedef struct {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char *file_type;                      // 3 chars + MS-DOS EOF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uint8_t prg_rom_bytes,      // rom chunks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    chr_rom_bytes;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uint8_t *flags,                         // flags for mapper and others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        *buffer;                      	    // buffer between header and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    prg-rom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} header ;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535" name="Google Shape;535;p46"/>
          <p:cNvGrpSpPr/>
          <p:nvPr/>
        </p:nvGrpSpPr>
        <p:grpSpPr>
          <a:xfrm>
            <a:off x="4158531" y="1753250"/>
            <a:ext cx="204654" cy="204654"/>
            <a:chOff x="259788" y="1923155"/>
            <a:chExt cx="409800" cy="409800"/>
          </a:xfrm>
        </p:grpSpPr>
        <p:sp>
          <p:nvSpPr>
            <p:cNvPr id="536" name="Google Shape;536;p46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37" name="Google Shape;537;p46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38" name="Google Shape;538;p46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9" name="Google Shape;539;p46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540" name="Google Shape;540;p46"/>
          <p:cNvSpPr txBox="1"/>
          <p:nvPr>
            <p:ph type="title"/>
          </p:nvPr>
        </p:nvSpPr>
        <p:spPr>
          <a:xfrm>
            <a:off x="193075" y="180150"/>
            <a:ext cx="7223400" cy="55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Parser: Solutions</a:t>
            </a:r>
            <a:endParaRPr/>
          </a:p>
        </p:txBody>
      </p:sp>
      <p:sp>
        <p:nvSpPr>
          <p:cNvPr id="541" name="Google Shape;541;p46"/>
          <p:cNvSpPr txBox="1"/>
          <p:nvPr>
            <p:ph idx="5" type="subTitle"/>
          </p:nvPr>
        </p:nvSpPr>
        <p:spPr>
          <a:xfrm>
            <a:off x="288575" y="1636275"/>
            <a:ext cx="436500" cy="787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542" name="Google Shape;542;p46"/>
          <p:cNvSpPr txBox="1"/>
          <p:nvPr/>
        </p:nvSpPr>
        <p:spPr>
          <a:xfrm>
            <a:off x="355400" y="2509200"/>
            <a:ext cx="3731700" cy="19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Reasoning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structs were needed to save read opcodes and later give meaning to them</a:t>
            </a:r>
            <a:endParaRPr sz="1200">
              <a:solidFill>
                <a:schemeClr val="dk2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3" name="Google Shape;543;p46"/>
          <p:cNvSpPr txBox="1"/>
          <p:nvPr/>
        </p:nvSpPr>
        <p:spPr>
          <a:xfrm>
            <a:off x="725025" y="1812600"/>
            <a:ext cx="32484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Creating New Techniques</a:t>
            </a:r>
            <a:endParaRPr b="1"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4" name="Google Shape;544;p46"/>
          <p:cNvSpPr txBox="1"/>
          <p:nvPr/>
        </p:nvSpPr>
        <p:spPr>
          <a:xfrm>
            <a:off x="4606200" y="2699875"/>
            <a:ext cx="4367400" cy="19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Cartridge </a:t>
            </a:r>
            <a:r>
              <a:rPr lang="en" sz="12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Struct:</a:t>
            </a:r>
            <a:endParaRPr sz="1200" u="sng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u="sng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typedef struct {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header *headers ;			// Allow for later use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char *PRG_ROM, *CHR_ROM;	// Save parsed data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int8_t mapper, mirror;		// easier access to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Frequently used data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} cartridge ;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45" name="Google Shape;545;p46"/>
          <p:cNvCxnSpPr/>
          <p:nvPr/>
        </p:nvCxnSpPr>
        <p:spPr>
          <a:xfrm>
            <a:off x="4606200" y="2618375"/>
            <a:ext cx="4367400" cy="6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7"/>
          <p:cNvSpPr txBox="1"/>
          <p:nvPr>
            <p:ph type="title"/>
          </p:nvPr>
        </p:nvSpPr>
        <p:spPr>
          <a:xfrm>
            <a:off x="228600" y="290448"/>
            <a:ext cx="3655800" cy="81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Mapper</a:t>
            </a:r>
            <a:endParaRPr/>
          </a:p>
        </p:txBody>
      </p:sp>
      <p:sp>
        <p:nvSpPr>
          <p:cNvPr id="551" name="Google Shape;551;p47"/>
          <p:cNvSpPr txBox="1"/>
          <p:nvPr>
            <p:ph idx="1" type="subTitle"/>
          </p:nvPr>
        </p:nvSpPr>
        <p:spPr>
          <a:xfrm>
            <a:off x="4525075" y="3157950"/>
            <a:ext cx="3926400" cy="118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>
                <a:solidFill>
                  <a:schemeClr val="dk2"/>
                </a:solidFill>
              </a:rPr>
              <a:t>Mapper includes how memory is read and whether bank switching is implemented based on specified mapper 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552" name="Google Shape;552;p47"/>
          <p:cNvGrpSpPr/>
          <p:nvPr/>
        </p:nvGrpSpPr>
        <p:grpSpPr>
          <a:xfrm rot="5400000">
            <a:off x="4525063" y="3129591"/>
            <a:ext cx="228589" cy="228622"/>
            <a:chOff x="1688332" y="4135245"/>
            <a:chExt cx="338700" cy="338700"/>
          </a:xfrm>
        </p:grpSpPr>
        <p:sp>
          <p:nvSpPr>
            <p:cNvPr id="553" name="Google Shape;553;p47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54" name="Google Shape;554;p47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555" name="Google Shape;555;p47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6" name="Google Shape;556;p47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8"/>
          <p:cNvSpPr txBox="1"/>
          <p:nvPr/>
        </p:nvSpPr>
        <p:spPr>
          <a:xfrm>
            <a:off x="362525" y="1471400"/>
            <a:ext cx="4354200" cy="30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Challenges</a:t>
            </a:r>
            <a:endParaRPr b="1"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AutoNum type="arabicPeriod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Difficult implementation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AutoNum type="alphaLcPeriod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How do I implement CPU address ranges?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AutoNum type="alphaLcPeriod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How can I make it scalable?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2" name="Google Shape;562;p48"/>
          <p:cNvSpPr txBox="1"/>
          <p:nvPr>
            <p:ph type="title"/>
          </p:nvPr>
        </p:nvSpPr>
        <p:spPr>
          <a:xfrm>
            <a:off x="228600" y="228600"/>
            <a:ext cx="3986700" cy="9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Mapper: What is it??? </a:t>
            </a:r>
            <a:endParaRPr/>
          </a:p>
        </p:txBody>
      </p:sp>
      <p:pic>
        <p:nvPicPr>
          <p:cNvPr descr="A rugged brown and white texture, like hundreds of tiny threads." id="563" name="Google Shape;563;p4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8490" r="18490" t="0"/>
          <a:stretch/>
        </p:blipFill>
        <p:spPr>
          <a:xfrm>
            <a:off x="4763925" y="146000"/>
            <a:ext cx="4196398" cy="4438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8" name="Google Shape;568;p49"/>
          <p:cNvCxnSpPr/>
          <p:nvPr/>
        </p:nvCxnSpPr>
        <p:spPr>
          <a:xfrm flipH="1">
            <a:off x="4570475" y="191925"/>
            <a:ext cx="7200" cy="4179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69" name="Google Shape;569;p49"/>
          <p:cNvGrpSpPr/>
          <p:nvPr/>
        </p:nvGrpSpPr>
        <p:grpSpPr>
          <a:xfrm>
            <a:off x="4222606" y="1636275"/>
            <a:ext cx="204654" cy="204654"/>
            <a:chOff x="259788" y="1923155"/>
            <a:chExt cx="409800" cy="409800"/>
          </a:xfrm>
        </p:grpSpPr>
        <p:sp>
          <p:nvSpPr>
            <p:cNvPr id="570" name="Google Shape;570;p49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71" name="Google Shape;571;p49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72" name="Google Shape;572;p49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3" name="Google Shape;573;p49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574" name="Google Shape;574;p49"/>
          <p:cNvSpPr txBox="1"/>
          <p:nvPr>
            <p:ph type="title"/>
          </p:nvPr>
        </p:nvSpPr>
        <p:spPr>
          <a:xfrm>
            <a:off x="193075" y="180150"/>
            <a:ext cx="3652500" cy="55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Mapper</a:t>
            </a: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Solutions</a:t>
            </a:r>
            <a:endParaRPr/>
          </a:p>
        </p:txBody>
      </p:sp>
      <p:sp>
        <p:nvSpPr>
          <p:cNvPr id="575" name="Google Shape;575;p49"/>
          <p:cNvSpPr txBox="1"/>
          <p:nvPr>
            <p:ph idx="5" type="subTitle"/>
          </p:nvPr>
        </p:nvSpPr>
        <p:spPr>
          <a:xfrm>
            <a:off x="288575" y="1636275"/>
            <a:ext cx="436500" cy="787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576" name="Google Shape;576;p49"/>
          <p:cNvSpPr txBox="1"/>
          <p:nvPr/>
        </p:nvSpPr>
        <p:spPr>
          <a:xfrm>
            <a:off x="355400" y="2509200"/>
            <a:ext cx="3731700" cy="19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The difficulty was trying to implement how to read from the cpu address ranges even though I am not interacting with the cpu in that way.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Scalability was also a problem. How can I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create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a single interface in a non-OOP language.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7" name="Google Shape;577;p49"/>
          <p:cNvSpPr txBox="1"/>
          <p:nvPr/>
        </p:nvSpPr>
        <p:spPr>
          <a:xfrm>
            <a:off x="725025" y="1812600"/>
            <a:ext cx="32484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Difficult Implementation</a:t>
            </a:r>
            <a:endParaRPr b="1"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8" name="Google Shape;578;p49"/>
          <p:cNvSpPr txBox="1"/>
          <p:nvPr/>
        </p:nvSpPr>
        <p:spPr>
          <a:xfrm>
            <a:off x="4833575" y="312750"/>
            <a:ext cx="4030500" cy="19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CPU Emulation: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The main code (disassembler.c) would use virtual address ranges starting from 0x8000, but in the mapper, use the physical address.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E.g. If disassembler.c called for 0xA013, the mapper would look for physical address 0x2013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79" name="Google Shape;579;p49"/>
          <p:cNvCxnSpPr/>
          <p:nvPr/>
        </p:nvCxnSpPr>
        <p:spPr>
          <a:xfrm>
            <a:off x="4665125" y="2334050"/>
            <a:ext cx="4367400" cy="6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0" name="Google Shape;580;p49"/>
          <p:cNvSpPr txBox="1"/>
          <p:nvPr/>
        </p:nvSpPr>
        <p:spPr>
          <a:xfrm>
            <a:off x="4833575" y="2571750"/>
            <a:ext cx="4030500" cy="19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Mapper Struct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 learned you could create typedef function structs e.g. (typedef int (*func_name)(int, char *) )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Allowing me to create any mapper func I wanted as long as it followed that structure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50"/>
          <p:cNvSpPr txBox="1"/>
          <p:nvPr>
            <p:ph type="title"/>
          </p:nvPr>
        </p:nvSpPr>
        <p:spPr>
          <a:xfrm>
            <a:off x="228600" y="290448"/>
            <a:ext cx="3655800" cy="1440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 Generation</a:t>
            </a:r>
            <a:endParaRPr/>
          </a:p>
        </p:txBody>
      </p:sp>
      <p:sp>
        <p:nvSpPr>
          <p:cNvPr id="586" name="Google Shape;586;p50"/>
          <p:cNvSpPr txBox="1"/>
          <p:nvPr>
            <p:ph idx="1" type="subTitle"/>
          </p:nvPr>
        </p:nvSpPr>
        <p:spPr>
          <a:xfrm>
            <a:off x="4525075" y="3157950"/>
            <a:ext cx="3926400" cy="118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>
                <a:solidFill>
                  <a:schemeClr val="dk2"/>
                </a:solidFill>
              </a:rPr>
              <a:t>Output generation includes </a:t>
            </a:r>
            <a:r>
              <a:rPr lang="en" sz="1400">
                <a:solidFill>
                  <a:schemeClr val="dk2"/>
                </a:solidFill>
              </a:rPr>
              <a:t>creating the assembly file and tiles.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587" name="Google Shape;587;p50"/>
          <p:cNvGrpSpPr/>
          <p:nvPr/>
        </p:nvGrpSpPr>
        <p:grpSpPr>
          <a:xfrm rot="5400000">
            <a:off x="4525063" y="3129591"/>
            <a:ext cx="228589" cy="228622"/>
            <a:chOff x="1688332" y="4135245"/>
            <a:chExt cx="338700" cy="338700"/>
          </a:xfrm>
        </p:grpSpPr>
        <p:sp>
          <p:nvSpPr>
            <p:cNvPr id="588" name="Google Shape;588;p5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89" name="Google Shape;589;p5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590" name="Google Shape;590;p5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1" name="Google Shape;591;p5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1"/>
          <p:cNvSpPr txBox="1"/>
          <p:nvPr/>
        </p:nvSpPr>
        <p:spPr>
          <a:xfrm>
            <a:off x="362525" y="1471400"/>
            <a:ext cx="4354200" cy="30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Challenges</a:t>
            </a:r>
            <a:endParaRPr b="1"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AutoNum type="arabicPeriod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Creating correct assembly output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AutoNum type="arabicPeriod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How to organize the output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7" name="Google Shape;597;p51"/>
          <p:cNvSpPr txBox="1"/>
          <p:nvPr>
            <p:ph type="title"/>
          </p:nvPr>
        </p:nvSpPr>
        <p:spPr>
          <a:xfrm>
            <a:off x="228600" y="228600"/>
            <a:ext cx="3986700" cy="9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 Generation </a:t>
            </a:r>
            <a:endParaRPr/>
          </a:p>
        </p:txBody>
      </p:sp>
      <p:pic>
        <p:nvPicPr>
          <p:cNvPr descr="A rugged brown and white texture, like hundreds of tiny threads." id="598" name="Google Shape;598;p5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8490" r="18490" t="0"/>
          <a:stretch/>
        </p:blipFill>
        <p:spPr>
          <a:xfrm>
            <a:off x="4763925" y="146000"/>
            <a:ext cx="4196398" cy="4438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3" name="Google Shape;603;p52"/>
          <p:cNvCxnSpPr/>
          <p:nvPr/>
        </p:nvCxnSpPr>
        <p:spPr>
          <a:xfrm flipH="1">
            <a:off x="4570475" y="191925"/>
            <a:ext cx="7200" cy="4179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04" name="Google Shape;604;p52"/>
          <p:cNvGrpSpPr/>
          <p:nvPr/>
        </p:nvGrpSpPr>
        <p:grpSpPr>
          <a:xfrm>
            <a:off x="4222606" y="1636275"/>
            <a:ext cx="204654" cy="204654"/>
            <a:chOff x="259788" y="1923155"/>
            <a:chExt cx="409800" cy="409800"/>
          </a:xfrm>
        </p:grpSpPr>
        <p:sp>
          <p:nvSpPr>
            <p:cNvPr id="605" name="Google Shape;605;p5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606" name="Google Shape;606;p5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607" name="Google Shape;607;p5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8" name="Google Shape;608;p5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609" name="Google Shape;609;p52"/>
          <p:cNvSpPr txBox="1"/>
          <p:nvPr>
            <p:ph type="title"/>
          </p:nvPr>
        </p:nvSpPr>
        <p:spPr>
          <a:xfrm>
            <a:off x="193075" y="180150"/>
            <a:ext cx="3652500" cy="1015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Output Generation</a:t>
            </a: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Solutions</a:t>
            </a:r>
            <a:endParaRPr/>
          </a:p>
        </p:txBody>
      </p:sp>
      <p:sp>
        <p:nvSpPr>
          <p:cNvPr id="610" name="Google Shape;610;p52"/>
          <p:cNvSpPr txBox="1"/>
          <p:nvPr>
            <p:ph idx="5" type="subTitle"/>
          </p:nvPr>
        </p:nvSpPr>
        <p:spPr>
          <a:xfrm>
            <a:off x="288575" y="1636275"/>
            <a:ext cx="436500" cy="787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611" name="Google Shape;611;p52"/>
          <p:cNvSpPr txBox="1"/>
          <p:nvPr/>
        </p:nvSpPr>
        <p:spPr>
          <a:xfrm>
            <a:off x="355400" y="2509200"/>
            <a:ext cx="3731700" cy="19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How do I get the assembly commands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How do I verify they’re valid “gracefully”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How do I deal with the uniqueness of 256 commands?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12" name="Google Shape;612;p52"/>
          <p:cNvSpPr txBox="1"/>
          <p:nvPr/>
        </p:nvSpPr>
        <p:spPr>
          <a:xfrm>
            <a:off x="725025" y="1812600"/>
            <a:ext cx="32484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Correct assembly output</a:t>
            </a:r>
            <a:endParaRPr b="1"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13" name="Google Shape;613;p52"/>
          <p:cNvSpPr txBox="1"/>
          <p:nvPr/>
        </p:nvSpPr>
        <p:spPr>
          <a:xfrm>
            <a:off x="4833575" y="312750"/>
            <a:ext cx="4030500" cy="14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Assembly Commands: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Created an array of all valid opcodes (yes it was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tedious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Allows me to point to null if not a valid command and point to the corresponding command if it is valid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614" name="Google Shape;614;p52"/>
          <p:cNvCxnSpPr/>
          <p:nvPr/>
        </p:nvCxnSpPr>
        <p:spPr>
          <a:xfrm>
            <a:off x="4665125" y="2281425"/>
            <a:ext cx="4367400" cy="6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5" name="Google Shape;615;p52"/>
          <p:cNvSpPr txBox="1"/>
          <p:nvPr/>
        </p:nvSpPr>
        <p:spPr>
          <a:xfrm>
            <a:off x="4833575" y="2779350"/>
            <a:ext cx="4030500" cy="14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Valid Opcodes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Since non-valid opcodes had null values in my opcode array, I just had to check if the resulting value was null in my main code.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0" name="Google Shape;620;p53"/>
          <p:cNvCxnSpPr/>
          <p:nvPr/>
        </p:nvCxnSpPr>
        <p:spPr>
          <a:xfrm flipH="1">
            <a:off x="4570475" y="191925"/>
            <a:ext cx="7200" cy="4179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21" name="Google Shape;621;p53"/>
          <p:cNvGrpSpPr/>
          <p:nvPr/>
        </p:nvGrpSpPr>
        <p:grpSpPr>
          <a:xfrm>
            <a:off x="4222606" y="1636275"/>
            <a:ext cx="204654" cy="204654"/>
            <a:chOff x="259788" y="1923155"/>
            <a:chExt cx="409800" cy="409800"/>
          </a:xfrm>
        </p:grpSpPr>
        <p:sp>
          <p:nvSpPr>
            <p:cNvPr id="622" name="Google Shape;622;p53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623" name="Google Shape;623;p53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624" name="Google Shape;624;p5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5" name="Google Shape;625;p5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626" name="Google Shape;626;p53"/>
          <p:cNvSpPr txBox="1"/>
          <p:nvPr>
            <p:ph type="title"/>
          </p:nvPr>
        </p:nvSpPr>
        <p:spPr>
          <a:xfrm>
            <a:off x="193075" y="180150"/>
            <a:ext cx="3652500" cy="1015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Output Generation: Solutions</a:t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7" name="Google Shape;627;p53"/>
          <p:cNvSpPr txBox="1"/>
          <p:nvPr>
            <p:ph idx="5" type="subTitle"/>
          </p:nvPr>
        </p:nvSpPr>
        <p:spPr>
          <a:xfrm>
            <a:off x="288575" y="1636275"/>
            <a:ext cx="436500" cy="787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628" name="Google Shape;628;p53"/>
          <p:cNvSpPr txBox="1"/>
          <p:nvPr/>
        </p:nvSpPr>
        <p:spPr>
          <a:xfrm>
            <a:off x="355400" y="2509200"/>
            <a:ext cx="3731700" cy="19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How do I get the assembly commands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How do I verify they’re valid “gracefully”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How do I deal with the uniqueness of 256 commands?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9" name="Google Shape;629;p53"/>
          <p:cNvSpPr txBox="1"/>
          <p:nvPr/>
        </p:nvSpPr>
        <p:spPr>
          <a:xfrm>
            <a:off x="725025" y="1812600"/>
            <a:ext cx="32484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Correct assembly output</a:t>
            </a:r>
            <a:endParaRPr b="1"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0" name="Google Shape;630;p53"/>
          <p:cNvSpPr txBox="1"/>
          <p:nvPr/>
        </p:nvSpPr>
        <p:spPr>
          <a:xfrm>
            <a:off x="4676425" y="312750"/>
            <a:ext cx="41877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Unique Commands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Commands have 4 unique values.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The actual command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Their address mode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The size of the command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The only way to uniquely identify these three is through a new struct that holds each of these values.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typedef struct {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const char *mnemonic, *comment;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addr_mode_t mode;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uint8_t size;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} opcode_entry;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1" name="Google Shape;631;p53"/>
          <p:cNvSpPr txBox="1"/>
          <p:nvPr/>
        </p:nvSpPr>
        <p:spPr>
          <a:xfrm>
            <a:off x="4618950" y="3426150"/>
            <a:ext cx="4437300" cy="11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[0x01] =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{"ORA", "OR Memory with Accumulator", INDEXED_INDIRECT, 3}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6" name="Google Shape;636;p54"/>
          <p:cNvCxnSpPr/>
          <p:nvPr/>
        </p:nvCxnSpPr>
        <p:spPr>
          <a:xfrm flipH="1">
            <a:off x="4570475" y="191925"/>
            <a:ext cx="7200" cy="4179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37" name="Google Shape;637;p54"/>
          <p:cNvGrpSpPr/>
          <p:nvPr/>
        </p:nvGrpSpPr>
        <p:grpSpPr>
          <a:xfrm>
            <a:off x="4222606" y="1636275"/>
            <a:ext cx="204654" cy="204654"/>
            <a:chOff x="259788" y="1923155"/>
            <a:chExt cx="409800" cy="409800"/>
          </a:xfrm>
        </p:grpSpPr>
        <p:sp>
          <p:nvSpPr>
            <p:cNvPr id="638" name="Google Shape;638;p54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639" name="Google Shape;639;p54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640" name="Google Shape;640;p54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1" name="Google Shape;641;p54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642" name="Google Shape;642;p54"/>
          <p:cNvSpPr txBox="1"/>
          <p:nvPr>
            <p:ph type="title"/>
          </p:nvPr>
        </p:nvSpPr>
        <p:spPr>
          <a:xfrm>
            <a:off x="193075" y="180150"/>
            <a:ext cx="3652500" cy="1015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Output Generation: Solutions</a:t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3" name="Google Shape;643;p54"/>
          <p:cNvSpPr txBox="1"/>
          <p:nvPr>
            <p:ph idx="5" type="subTitle"/>
          </p:nvPr>
        </p:nvSpPr>
        <p:spPr>
          <a:xfrm>
            <a:off x="288575" y="1636275"/>
            <a:ext cx="436500" cy="787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644" name="Google Shape;644;p54"/>
          <p:cNvSpPr txBox="1"/>
          <p:nvPr/>
        </p:nvSpPr>
        <p:spPr>
          <a:xfrm>
            <a:off x="355400" y="2509200"/>
            <a:ext cx="3731700" cy="19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If one tile has 8x8 pixels = 64 pixels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then there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are 16 bytes per pixel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If the minimum size of CHR ROM is 8KB that means there is a minimum of 512 tiles for a file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5" name="Google Shape;645;p54"/>
          <p:cNvSpPr txBox="1"/>
          <p:nvPr/>
        </p:nvSpPr>
        <p:spPr>
          <a:xfrm>
            <a:off x="725025" y="1812600"/>
            <a:ext cx="32484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Organizing Output</a:t>
            </a:r>
            <a:endParaRPr b="1"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6" name="Google Shape;646;p54"/>
          <p:cNvSpPr txBox="1"/>
          <p:nvPr/>
        </p:nvSpPr>
        <p:spPr>
          <a:xfrm>
            <a:off x="4676425" y="312750"/>
            <a:ext cx="41877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PRG ROM Organization: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As a simple solution, each output file follows some format with the unique attribute being the name of the disassembled file.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CHR ROM Organization: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Since there are some many tiles, they have their own directory to be stored following the naming convention tiles_&lt;filename&gt;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Each file is given an id based on the order it was created (e.g. tile_0001.jpeg)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Both: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All generated files go into the “output_files/” directory as to not clutter the home directory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55"/>
          <p:cNvSpPr txBox="1"/>
          <p:nvPr>
            <p:ph type="title"/>
          </p:nvPr>
        </p:nvSpPr>
        <p:spPr>
          <a:xfrm>
            <a:off x="228600" y="290448"/>
            <a:ext cx="3655800" cy="1440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Features</a:t>
            </a:r>
            <a:endParaRPr/>
          </a:p>
        </p:txBody>
      </p:sp>
      <p:sp>
        <p:nvSpPr>
          <p:cNvPr id="652" name="Google Shape;652;p55"/>
          <p:cNvSpPr txBox="1"/>
          <p:nvPr>
            <p:ph idx="1" type="subTitle"/>
          </p:nvPr>
        </p:nvSpPr>
        <p:spPr>
          <a:xfrm>
            <a:off x="4525075" y="3157950"/>
            <a:ext cx="3926400" cy="118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>
                <a:solidFill>
                  <a:schemeClr val="dk2"/>
                </a:solidFill>
              </a:rPr>
              <a:t>This includes the main points not required in the core components of the project.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653" name="Google Shape;653;p55"/>
          <p:cNvGrpSpPr/>
          <p:nvPr/>
        </p:nvGrpSpPr>
        <p:grpSpPr>
          <a:xfrm rot="5400000">
            <a:off x="4525063" y="3129591"/>
            <a:ext cx="228589" cy="228622"/>
            <a:chOff x="1688332" y="4135245"/>
            <a:chExt cx="338700" cy="338700"/>
          </a:xfrm>
        </p:grpSpPr>
        <p:sp>
          <p:nvSpPr>
            <p:cNvPr id="654" name="Google Shape;654;p55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655" name="Google Shape;655;p55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656" name="Google Shape;656;p55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7" name="Google Shape;657;p55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6"/>
          <p:cNvSpPr txBox="1"/>
          <p:nvPr/>
        </p:nvSpPr>
        <p:spPr>
          <a:xfrm>
            <a:off x="362525" y="1471400"/>
            <a:ext cx="4354200" cy="30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Challenges</a:t>
            </a:r>
            <a:endParaRPr b="1"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AutoNum type="arabicPeriod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HTML output implementation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AutoNum type="arabicPeriod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Call Graph implementation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3" name="Google Shape;663;p56"/>
          <p:cNvSpPr txBox="1"/>
          <p:nvPr>
            <p:ph type="title"/>
          </p:nvPr>
        </p:nvSpPr>
        <p:spPr>
          <a:xfrm>
            <a:off x="228600" y="228600"/>
            <a:ext cx="3986700" cy="9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 Generation </a:t>
            </a:r>
            <a:endParaRPr/>
          </a:p>
        </p:txBody>
      </p:sp>
      <p:pic>
        <p:nvPicPr>
          <p:cNvPr descr="A rugged brown and white texture, like hundreds of tiny threads." id="664" name="Google Shape;664;p5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8490" r="18490" t="0"/>
          <a:stretch/>
        </p:blipFill>
        <p:spPr>
          <a:xfrm>
            <a:off x="4763925" y="146000"/>
            <a:ext cx="4196398" cy="4438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9" name="Google Shape;669;p57"/>
          <p:cNvCxnSpPr/>
          <p:nvPr/>
        </p:nvCxnSpPr>
        <p:spPr>
          <a:xfrm flipH="1">
            <a:off x="4570475" y="191925"/>
            <a:ext cx="7200" cy="4179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70" name="Google Shape;670;p57"/>
          <p:cNvGrpSpPr/>
          <p:nvPr/>
        </p:nvGrpSpPr>
        <p:grpSpPr>
          <a:xfrm>
            <a:off x="4222606" y="1636275"/>
            <a:ext cx="204654" cy="204654"/>
            <a:chOff x="259788" y="1923155"/>
            <a:chExt cx="409800" cy="409800"/>
          </a:xfrm>
        </p:grpSpPr>
        <p:sp>
          <p:nvSpPr>
            <p:cNvPr id="671" name="Google Shape;671;p57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672" name="Google Shape;672;p57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673" name="Google Shape;673;p57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4" name="Google Shape;674;p57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675" name="Google Shape;675;p57"/>
          <p:cNvSpPr txBox="1"/>
          <p:nvPr>
            <p:ph type="title"/>
          </p:nvPr>
        </p:nvSpPr>
        <p:spPr>
          <a:xfrm>
            <a:off x="193075" y="180150"/>
            <a:ext cx="3652500" cy="1015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Advanced Features: Solutions</a:t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6" name="Google Shape;676;p57"/>
          <p:cNvSpPr txBox="1"/>
          <p:nvPr>
            <p:ph idx="5" type="subTitle"/>
          </p:nvPr>
        </p:nvSpPr>
        <p:spPr>
          <a:xfrm>
            <a:off x="288575" y="1636275"/>
            <a:ext cx="436500" cy="787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677" name="Google Shape;677;p57"/>
          <p:cNvSpPr txBox="1"/>
          <p:nvPr/>
        </p:nvSpPr>
        <p:spPr>
          <a:xfrm>
            <a:off x="355400" y="2509200"/>
            <a:ext cx="3731700" cy="19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How to correctly insert anchor tags into already created strings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8" name="Google Shape;678;p57"/>
          <p:cNvSpPr txBox="1"/>
          <p:nvPr/>
        </p:nvSpPr>
        <p:spPr>
          <a:xfrm>
            <a:off x="725025" y="1812600"/>
            <a:ext cx="32484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HTML file generation</a:t>
            </a:r>
            <a:endParaRPr b="1"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9" name="Google Shape;679;p57"/>
          <p:cNvSpPr txBox="1"/>
          <p:nvPr/>
        </p:nvSpPr>
        <p:spPr>
          <a:xfrm>
            <a:off x="4676425" y="312750"/>
            <a:ext cx="41877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First Iteration: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At first I tried inserting tags at a manually counted index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Pros: simple to implement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Cons: did not solve edge cases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Second Iteration: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Find the index of ‘$’ and insert tag there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Pros: used first iterations code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Cons: used more processing power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4" name="Google Shape;684;p58"/>
          <p:cNvCxnSpPr/>
          <p:nvPr/>
        </p:nvCxnSpPr>
        <p:spPr>
          <a:xfrm flipH="1">
            <a:off x="4570475" y="191925"/>
            <a:ext cx="7200" cy="4179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85" name="Google Shape;685;p58"/>
          <p:cNvGrpSpPr/>
          <p:nvPr/>
        </p:nvGrpSpPr>
        <p:grpSpPr>
          <a:xfrm>
            <a:off x="4222606" y="1636275"/>
            <a:ext cx="204654" cy="204654"/>
            <a:chOff x="259788" y="1923155"/>
            <a:chExt cx="409800" cy="409800"/>
          </a:xfrm>
        </p:grpSpPr>
        <p:sp>
          <p:nvSpPr>
            <p:cNvPr id="686" name="Google Shape;686;p58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687" name="Google Shape;687;p58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688" name="Google Shape;688;p58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9" name="Google Shape;689;p58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690" name="Google Shape;690;p58"/>
          <p:cNvSpPr txBox="1"/>
          <p:nvPr>
            <p:ph type="title"/>
          </p:nvPr>
        </p:nvSpPr>
        <p:spPr>
          <a:xfrm>
            <a:off x="193075" y="180150"/>
            <a:ext cx="3652500" cy="1477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Advanced Features: Solutions</a:t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1" name="Google Shape;691;p58"/>
          <p:cNvSpPr txBox="1"/>
          <p:nvPr>
            <p:ph idx="5" type="subTitle"/>
          </p:nvPr>
        </p:nvSpPr>
        <p:spPr>
          <a:xfrm>
            <a:off x="288575" y="1636275"/>
            <a:ext cx="436500" cy="787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692" name="Google Shape;692;p58"/>
          <p:cNvSpPr txBox="1"/>
          <p:nvPr/>
        </p:nvSpPr>
        <p:spPr>
          <a:xfrm>
            <a:off x="355400" y="2509200"/>
            <a:ext cx="3731700" cy="19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How do I know when a subroutine starts?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How can I create a call graph?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3" name="Google Shape;693;p58"/>
          <p:cNvSpPr txBox="1"/>
          <p:nvPr/>
        </p:nvSpPr>
        <p:spPr>
          <a:xfrm>
            <a:off x="725025" y="1812600"/>
            <a:ext cx="32484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Call Graph Implementation</a:t>
            </a:r>
            <a:endParaRPr b="1"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4" name="Google Shape;694;p58"/>
          <p:cNvSpPr txBox="1"/>
          <p:nvPr/>
        </p:nvSpPr>
        <p:spPr>
          <a:xfrm>
            <a:off x="4676425" y="312750"/>
            <a:ext cx="4187700" cy="36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Finding start of Subroutine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No indicators when an SR starts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Only way to know where an SR is by the commands that call it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Creating Call Graph: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How deep do I make the graph?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Anything more than a single layer may cause a loop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Rudimentary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but solves many edge cases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How to convey the call graph since it can’t be too in-depth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Simple: this SR calls this SR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E.g.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Subroutine at $8F97 calls: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$5B85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59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700" name="Google Shape;700;p59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701" name="Google Shape;701;p59"/>
          <p:cNvSpPr txBox="1"/>
          <p:nvPr>
            <p:ph type="title"/>
          </p:nvPr>
        </p:nvSpPr>
        <p:spPr>
          <a:xfrm>
            <a:off x="228600" y="290450"/>
            <a:ext cx="3655800" cy="81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Thank you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02" name="Google Shape;702;p59"/>
          <p:cNvSpPr/>
          <p:nvPr/>
        </p:nvSpPr>
        <p:spPr>
          <a:xfrm>
            <a:off x="228600" y="3299625"/>
            <a:ext cx="84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9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